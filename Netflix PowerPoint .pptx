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3" r:id="rId24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Netflix Content Analytics</a:t>
            </a:r>
          </a:p>
          <a:p>
            <a:pPr algn="ctr">
              <a:defRPr sz="1900"/>
            </a:pPr>
            <a:r>
              <a:t>Data Cleaning • EDA • Statistical Analysis • KPIs •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Graduation Project Presentation</a:t>
            </a:r>
          </a:p>
          <a:p>
            <a:pPr>
              <a:defRPr sz="1800"/>
            </a:pPr>
            <a:r>
              <a:t>Abdallah Nasrallah - 202010940</a:t>
            </a:r>
          </a:p>
          <a:p>
            <a:pPr>
              <a:defRPr sz="1800"/>
            </a:pPr>
            <a:r>
              <a:t>Supervisor: Wasef Matar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Understand the structure and quality of the Netflix titles dataset.</a:t>
            </a:r>
          </a:p>
          <a:p>
            <a:pPr>
              <a:spcAft>
                <a:spcPts val="1200"/>
              </a:spcAft>
              <a:defRPr sz="1800"/>
            </a:pPr>
            <a:r>
              <a:t>Clean and transform the data to make it analysis-ready.</a:t>
            </a:r>
          </a:p>
          <a:p>
            <a:pPr>
              <a:spcAft>
                <a:spcPts val="1200"/>
              </a:spcAft>
              <a:defRPr sz="1800"/>
            </a:pPr>
            <a:r>
              <a:t>Perform Exploratory Data Analysis (EDA) using descriptive statistics and visualizations.</a:t>
            </a:r>
          </a:p>
          <a:p>
            <a:pPr>
              <a:spcAft>
                <a:spcPts val="1200"/>
              </a:spcAft>
              <a:defRPr sz="1800"/>
            </a:pPr>
            <a:r>
              <a:t>Calculate meaningful KPIs that summarize Netflix's content library.</a:t>
            </a:r>
          </a:p>
          <a:p>
            <a:pPr>
              <a:spcAft>
                <a:spcPts val="1200"/>
              </a:spcAft>
              <a:defRPr sz="1800"/>
            </a:pPr>
            <a:r>
              <a:t>Identify content, genre, country, rating, and release-year patterns.</a:t>
            </a:r>
          </a:p>
          <a:p>
            <a:pPr>
              <a:spcAft>
                <a:spcPts val="1200"/>
              </a:spcAft>
              <a:defRPr sz="1800"/>
            </a:pPr>
            <a:r>
              <a:t>Translate analytical findings into practical business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Methodology &amp;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Source dataset: Netflix titles dataset containing movies and TV shows.</a:t>
            </a:r>
          </a:p>
          <a:p>
            <a:pPr>
              <a:spcAft>
                <a:spcPts val="1200"/>
              </a:spcAft>
              <a:defRPr sz="1600"/>
            </a:pPr>
            <a:r>
              <a:t>Tools: Python (Pandas, NumPy, Matplotlib) and Microsoft Excel.</a:t>
            </a:r>
          </a:p>
          <a:p>
            <a:pPr>
              <a:spcAft>
                <a:spcPts val="1200"/>
              </a:spcAft>
              <a:defRPr sz="1600"/>
            </a:pPr>
            <a:r>
              <a:t>Data cleansing: duplicate review/removal, missing-value assessment, type conversion, and date parsing.</a:t>
            </a:r>
          </a:p>
          <a:p>
            <a:pPr>
              <a:spcAft>
                <a:spcPts val="1200"/>
              </a:spcAft>
              <a:defRPr sz="1600"/>
            </a:pPr>
            <a:r>
              <a:t>Data transformation: extracted year_added and month_added from date_added; separated duration_value and duration_unit.</a:t>
            </a:r>
          </a:p>
          <a:p>
            <a:pPr>
              <a:spcAft>
                <a:spcPts val="1200"/>
              </a:spcAft>
              <a:defRPr sz="1600"/>
            </a:pPr>
            <a:r>
              <a:t>EDA: content mix, genres, countries, ratings, release years, and duration analysis.</a:t>
            </a:r>
          </a:p>
          <a:p>
            <a:pPr>
              <a:spcAft>
                <a:spcPts val="1200"/>
              </a:spcAft>
              <a:defRPr sz="1600"/>
            </a:pPr>
            <a:r>
              <a:t>Statistical analysis: mean, median, standard deviation, minimum, and maximum.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Project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8,807</a:t>
            </a:r>
          </a:p>
          <a:p>
            <a:pPr algn="ctr">
              <a:defRPr sz="1100"/>
            </a:pPr>
            <a:r>
              <a:t>Total Titles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6,131</a:t>
            </a:r>
          </a:p>
          <a:p>
            <a:pPr algn="ctr">
              <a:defRPr sz="1100"/>
            </a:pPr>
            <a:r>
              <a:t>Movies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2,676</a:t>
            </a:r>
          </a:p>
          <a:p>
            <a:pPr algn="ctr">
              <a:defRPr sz="1100"/>
            </a:pPr>
            <a:r>
              <a:t>TV Shows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137160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69.6%</a:t>
            </a:r>
          </a:p>
          <a:p>
            <a:pPr algn="ctr">
              <a:defRPr sz="1100"/>
            </a:pPr>
            <a:r>
              <a:t>Movie Share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30.4%</a:t>
            </a:r>
          </a:p>
          <a:p>
            <a:pPr algn="ctr">
              <a:defRPr sz="1100"/>
            </a:pPr>
            <a:r>
              <a:t>TV Show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347472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99.6 min</a:t>
            </a:r>
          </a:p>
          <a:p>
            <a:pPr algn="ctr">
              <a:defRPr sz="1100"/>
            </a:pPr>
            <a:r>
              <a:t>Avg. Movie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47472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98 min</a:t>
            </a:r>
          </a:p>
          <a:p>
            <a:pPr algn="ctr">
              <a:defRPr sz="1100"/>
            </a:pPr>
            <a:r>
              <a:t>Median Movie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3474720"/>
            <a:ext cx="219456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/>
            </a:pPr>
            <a:r>
              <a:t>2014</a:t>
            </a:r>
          </a:p>
          <a:p>
            <a:pPr algn="ctr">
              <a:defRPr sz="1100"/>
            </a:pPr>
            <a:r>
              <a:t>Avg. Release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Content Type Distribution</a:t>
            </a:r>
          </a:p>
        </p:txBody>
      </p:sp>
      <p:pic>
        <p:nvPicPr>
          <p:cNvPr id="3" name="Picture 2" descr="01_content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78455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Movies account for 69.6% of the dataset, while TV Shows account for 30.4%. This indicates a strong movie-oriented content mix.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Top Genres / Categories</a:t>
            </a:r>
          </a:p>
        </p:txBody>
      </p:sp>
      <p:pic>
        <p:nvPicPr>
          <p:cNvPr id="3" name="Picture 2" descr="02_top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48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The leading category is 'International Movies', with 2,752 title appearances. Genre concentration helps identify where the catalog is strongest.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Geographic Distribution</a:t>
            </a:r>
          </a:p>
        </p:txBody>
      </p:sp>
      <p:pic>
        <p:nvPicPr>
          <p:cNvPr id="3" name="Picture 2" descr="03_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48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United States has the highest number of country-tagged title appearances. International representation is an important dimension of Netflix's catalog strategy.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Content Ratings</a:t>
            </a:r>
          </a:p>
        </p:txBody>
      </p:sp>
      <p:pic>
        <p:nvPicPr>
          <p:cNvPr id="3" name="Picture 2" descr="04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487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The most common rating is TV-MA (3,207 titles). Ratings reveal the dominant audience segments represented in the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Titles Added Over Time</a:t>
            </a:r>
          </a:p>
        </p:txBody>
      </p:sp>
      <p:pic>
        <p:nvPicPr>
          <p:cNvPr id="3" name="Picture 2" descr="05_titles_added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55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The dataset shows strong growth in titles added during the late 2010s and early 2020s, reflecting Netflix's rapid catalog expansion.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9. Release-Year Trend</a:t>
            </a:r>
          </a:p>
        </p:txBody>
      </p:sp>
      <p:pic>
        <p:nvPicPr>
          <p:cNvPr id="3" name="Picture 2" descr="06_release_yea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55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Recent release years contain a large share of the catalog, indicating a strong focus on relatively modern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10. Movie Duration Analysis</a:t>
            </a:r>
          </a:p>
        </p:txBody>
      </p:sp>
      <p:pic>
        <p:nvPicPr>
          <p:cNvPr id="3" name="Picture 2" descr="07_movie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534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Average movie duration is 99.6 minutes, median is 98 minutes, and standard deviation is 28.3 minutes. The difference between mean and median indicates some variation in movie lengths.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11. TV Show Season Analysis</a:t>
            </a:r>
          </a:p>
        </p:txBody>
      </p:sp>
      <p:pic>
        <p:nvPicPr>
          <p:cNvPr id="3" name="Picture 2" descr="08_tv_s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595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Most TV shows have a small number of seasons. This metric can support analysis of short-form versus long-running series.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12. Missing-Value Analysis</a:t>
            </a:r>
          </a:p>
        </p:txBody>
      </p:sp>
      <p:pic>
        <p:nvPicPr>
          <p:cNvPr id="3" name="Picture 2" descr="09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98079" cy="4151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17320"/>
            <a:ext cx="30632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/>
            </a:pPr>
            <a:r>
              <a:t>Key Insight</a:t>
            </a:r>
          </a:p>
          <a:p>
            <a:pPr>
              <a:defRPr sz="1500"/>
            </a:pPr>
            <a:r>
              <a:t>Missing values are concentrated in fields such as director, cast, and country. These fields should be interpreted carefully rather than automatically treating missing values as zero or 'none'.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</a:defRPr>
            </a:pPr>
            <a:r>
              <a:t>Netflix Content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</a:defRPr>
            </a:pPr>
            <a:r>
              <a:t>One-page summary of the project's core KPIs and visual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/>
            </a:pPr>
            <a:r>
              <a:t>8,807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Total Titles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051560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170432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/>
            </a:pPr>
            <a:r>
              <a:t>6,131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Movies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51560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70432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/>
            </a:pPr>
            <a:r>
              <a:t>2,676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TV Shows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1051560"/>
            <a:ext cx="2468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170432"/>
            <a:ext cx="2194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/>
            </a:pPr>
            <a:r>
              <a:t>99.6 min</a:t>
            </a:r>
          </a:p>
          <a:p>
            <a:pPr algn="ctr">
              <a:defRPr sz="1000">
                <a:solidFill>
                  <a:srgbClr val="646464"/>
                </a:solidFill>
              </a:defRPr>
            </a:pPr>
            <a:r>
              <a:t>Avg. Movie Duration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488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58568"/>
            <a:ext cx="5129784" cy="15727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" y="3813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Content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258568"/>
            <a:ext cx="5129784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0" y="381304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Top Genres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lide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453128"/>
            <a:ext cx="5129784" cy="15727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600760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Geographic Distribution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4340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lide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53128"/>
            <a:ext cx="5129784" cy="15727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6007608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05050"/>
                </a:solidFill>
              </a:defRPr>
            </a:pPr>
            <a:r>
              <a:t>Content Ratings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Dashboard combines existing project visuals; it summarizes catalog content, not user viewing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13. 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Movie duration — Mean: 99.58 minutes.</a:t>
            </a:r>
          </a:p>
          <a:p>
            <a:pPr>
              <a:spcAft>
                <a:spcPts val="1200"/>
              </a:spcAft>
              <a:defRPr sz="1600"/>
            </a:pPr>
            <a:r>
              <a:t>Movie duration — Median: 98.00 minutes.</a:t>
            </a:r>
          </a:p>
          <a:p>
            <a:pPr>
              <a:spcAft>
                <a:spcPts val="1200"/>
              </a:spcAft>
              <a:defRPr sz="1600"/>
            </a:pPr>
            <a:r>
              <a:t>Movie duration — Standard deviation: 28.29 minutes.</a:t>
            </a:r>
          </a:p>
          <a:p>
            <a:pPr>
              <a:spcAft>
                <a:spcPts val="1200"/>
              </a:spcAft>
              <a:defRPr sz="1600"/>
            </a:pPr>
            <a:r>
              <a:t>Movie duration — Minimum: 3 minutes; Maximum: 312 minutes.</a:t>
            </a:r>
          </a:p>
          <a:p>
            <a:pPr>
              <a:spcAft>
                <a:spcPts val="1200"/>
              </a:spcAft>
              <a:defRPr sz="1600"/>
            </a:pPr>
            <a:r>
              <a:t>Release year — Mean: 2014.18; Median: 2017; Standard deviation: 8.82.</a:t>
            </a:r>
          </a:p>
          <a:p>
            <a:pPr>
              <a:spcAft>
                <a:spcPts val="1200"/>
              </a:spcAft>
              <a:defRPr sz="1600"/>
            </a:pPr>
            <a:r>
              <a:t>Standard deviation measures how spread out values are around the mean; it is NOT the square root of the mean.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14.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Maintain a balanced content portfolio while using performance data to prioritize high-demand categories.</a:t>
            </a:r>
          </a:p>
          <a:p>
            <a:pPr>
              <a:spcAft>
                <a:spcPts val="1200"/>
              </a:spcAft>
              <a:defRPr sz="1600"/>
            </a:pPr>
            <a:r>
              <a:t>Use genre and rating patterns to support audience segmentation and targeted content acquisition.</a:t>
            </a:r>
          </a:p>
          <a:p>
            <a:pPr>
              <a:spcAft>
                <a:spcPts val="1200"/>
              </a:spcAft>
              <a:defRPr sz="1600"/>
            </a:pPr>
            <a:r>
              <a:t>Continue monitoring international content because country diversity can support global market reach.</a:t>
            </a:r>
          </a:p>
          <a:p>
            <a:pPr>
              <a:spcAft>
                <a:spcPts val="1200"/>
              </a:spcAft>
              <a:defRPr sz="1600"/>
            </a:pPr>
            <a:r>
              <a:t>Analyze release-year trends to balance new releases with evergreen catalog content.</a:t>
            </a:r>
          </a:p>
          <a:p>
            <a:pPr>
              <a:spcAft>
                <a:spcPts val="1200"/>
              </a:spcAft>
              <a:defRPr sz="1600"/>
            </a:pPr>
            <a:r>
              <a:t>Use movie-duration and TV-season distributions when planning recommendation and discovery experiences.</a:t>
            </a:r>
          </a:p>
          <a:p>
            <a:pPr>
              <a:spcAft>
                <a:spcPts val="1200"/>
              </a:spcAft>
              <a:defRPr sz="1600"/>
            </a:pPr>
            <a:r>
              <a:t>Improve data completeness for director, cast, and country fields to strengthen downstream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15. Recommendations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Build an interactive Power BI or Tableau dashboard with the same KPIs and filters.</a:t>
            </a:r>
          </a:p>
          <a:p>
            <a:pPr>
              <a:spcAft>
                <a:spcPts val="1200"/>
              </a:spcAft>
              <a:defRPr sz="1600"/>
            </a:pPr>
            <a:r>
              <a:t>Develop a content-based recommendation system using genre, description, cast, director, and country.</a:t>
            </a:r>
          </a:p>
          <a:p>
            <a:pPr>
              <a:spcAft>
                <a:spcPts val="1200"/>
              </a:spcAft>
              <a:defRPr sz="1600"/>
            </a:pPr>
            <a:r>
              <a:t>Perform time-series analysis of content additions and identify expansion patterns.</a:t>
            </a:r>
          </a:p>
          <a:p>
            <a:pPr>
              <a:spcAft>
                <a:spcPts val="1200"/>
              </a:spcAft>
              <a:defRPr sz="1600"/>
            </a:pPr>
            <a:r>
              <a:t>Compare content strategy by country and rating.</a:t>
            </a:r>
          </a:p>
          <a:p>
            <a:pPr>
              <a:spcAft>
                <a:spcPts val="1200"/>
              </a:spcAft>
              <a:defRPr sz="1600"/>
            </a:pPr>
            <a:r>
              <a:t>Add user-level viewing or engagement data in future work to connect catalog size with actual performance.</a:t>
            </a:r>
          </a:p>
          <a:p>
            <a:pPr>
              <a:spcAft>
                <a:spcPts val="1200"/>
              </a:spcAft>
              <a:defRPr sz="1600"/>
            </a:pPr>
            <a:r>
              <a:t>Apply machine learning for content classification or popularity prediction when suitable target data is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The cleaned dataset contains 8,807 Netflix titles across 17 fields.</a:t>
            </a:r>
          </a:p>
          <a:p>
            <a:pPr>
              <a:spcAft>
                <a:spcPts val="1200"/>
              </a:spcAft>
              <a:defRPr sz="1800"/>
            </a:pPr>
            <a:r>
              <a:t>The project demonstrates a complete BI workflow: data preparation → EDA → statistics → KPIs → visualization → business recommendations.</a:t>
            </a:r>
          </a:p>
          <a:p>
            <a:pPr>
              <a:spcAft>
                <a:spcPts val="1200"/>
              </a:spcAft>
              <a:defRPr sz="1800"/>
            </a:pPr>
            <a:r>
              <a:t>Charts make the main patterns easier to communicate to decision-makers.</a:t>
            </a:r>
          </a:p>
          <a:p>
            <a:pPr>
              <a:spcAft>
                <a:spcPts val="1200"/>
              </a:spcAft>
              <a:defRPr sz="1800"/>
            </a:pPr>
            <a:r>
              <a:t>The analysis provides a strong foundation for dashboarding and a future recommendation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Netflix Content Analytics | Graduation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